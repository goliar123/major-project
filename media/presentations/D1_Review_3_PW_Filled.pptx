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Second level</a:t>
            </a:r>
          </a:p>
          <a:p>
            <a:pPr lvl="2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Third level</a:t>
            </a:r>
          </a:p>
          <a:p>
            <a:pPr lvl="3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Fourth level</a:t>
            </a:r>
          </a:p>
          <a:p>
            <a:pPr lvl="4">
              <a:defRPr>
                <a:latin typeface="Times New Roman"/>
              </a:defRPr>
            </a:pPr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Times New Roman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Times New Roman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Times New Roman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Times New Roman"/>
        <a:buChar char="•"/>
        <a:defRPr sz="32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Times New Roman"/>
        <a:buChar char="–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Times New Roman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Times New Roman"/>
        <a:buChar char="–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Times New Roman"/>
        <a:buChar char="»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view1_p0_img_0_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20040"/>
            <a:ext cx="1280160" cy="12408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916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2100" b="1">
                <a:solidFill>
                  <a:srgbClr val="A00000"/>
                </a:solidFill>
                <a:latin typeface="Times New Roman"/>
              </a:rPr>
              <a:t>GOKARAJU RANGARAJU INSTITUTE OF ENGINEERING AND TECHNOLOGY</a:t>
            </a:r>
          </a:p>
          <a:p>
            <a:pPr algn="ctr">
              <a:defRPr>
                <a:latin typeface="Times New Roman"/>
              </a:defRPr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  <a:p>
            <a:pPr algn="ctr">
              <a:defRPr>
                <a:latin typeface="Times New Roman"/>
              </a:defRPr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Academic Year 2026-2027  |  B. Tech IV Year / I Semester  |  GR22A4082 - Project Work Phase-1</a:t>
            </a:r>
          </a:p>
          <a:p>
            <a:pPr algn="ctr">
              <a:defRPr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REVIEW-3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2500" b="1">
                <a:solidFill>
                  <a:srgbClr val="A00000"/>
                </a:solidFill>
                <a:latin typeface="Times New Roman"/>
              </a:rPr>
              <a:t>Automated Failure Attribution for LLM-Based Multi-Agent Systems</a:t>
            </a:r>
          </a:p>
          <a:p>
            <a:pPr algn="ctr">
              <a:defRPr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Batch No: B12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480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Rachapalli S Prabhaadhithya - 23241A05Q3</a:t>
            </a:r>
          </a:p>
          <a:p>
            <a:pPr algn="l">
              <a:defRPr>
                <a:latin typeface="Times New Roman"/>
              </a:defRPr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Rathod Ajay - 23241A05Q4</a:t>
            </a:r>
          </a:p>
          <a:p>
            <a:pPr algn="l">
              <a:defRPr>
                <a:latin typeface="Times New Roman"/>
              </a:defRPr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Noel Paul - 23241A05Q6</a:t>
            </a:r>
          </a:p>
          <a:p>
            <a:pPr algn="l">
              <a:defRPr>
                <a:latin typeface="Times New Roman"/>
              </a:defRPr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Talagapu Niranjan - 23241A05R1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448056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Dr. D. Ushasree</a:t>
            </a:r>
          </a:p>
          <a:p>
            <a:pPr>
              <a:defRPr>
                <a:latin typeface="Times New Roman"/>
              </a:defRPr>
            </a:pPr>
            <a:r>
              <a:rPr sz="1300" i="1">
                <a:solidFill>
                  <a:srgbClr val="0F172A"/>
                </a:solidFill>
                <a:latin typeface="Times New Roman"/>
              </a:rPr>
              <a:t>Assistant Professor</a:t>
            </a:r>
          </a:p>
          <a:p>
            <a:pPr>
              <a:defRPr>
                <a:latin typeface="Times New Roman"/>
              </a:defRPr>
            </a:pPr>
            <a:r>
              <a:rPr sz="1300">
                <a:solidFill>
                  <a:srgbClr val="0F172A"/>
                </a:solidFill>
                <a:latin typeface="Times New Roman"/>
              </a:rPr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Project Overview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Problem Statement: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Existing multi-agent LLM systems fail unpredictably through complex interaction dynamics, making manual debugging impossible and failure attribution across cascading agent steps error-prone.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Proposed Solution: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To develop an Automated Failure Attribution Framework integrating step-wise LLM evaluation, causal dependency DAG construction, and backward causal graph traversal to pinpoint root-cause agent actions.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Scope: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Heterogeneous multi-agent trace ingestion (AutoGen, MetaGPT, LangGraph), prompt-caching step evaluations, causal dependency reconstruction, and root-cause localization with an interactive diagnostic dashboard.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Goal: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Achieve &gt;85% attribution accuracy on multi-agent failure traces with sub-second traversal latency and 100% cache-hit response optimization.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Objectives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Ingest and segment heterogeneous multi-agent trace logs across diverse execution frameworks.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Implement a prompt-caching step-wise LLM judge to evaluate intermediate agent correctness and anomaly states.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Construct formal causal dependency graphs (DAG) capturing data, control, and state dependencies between agents.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Execute backward causal graph traversal from manifest failures to pinpoint earliest anomalous parent steps.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Validate attribution accuracy, precision, and latency against Who&amp;When benchmarks and synthetic test suites.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500" b="1">
                <a:latin typeface="Times New Roman"/>
              </a:rPr>
              <a:t>• </a:t>
            </a:r>
            <a:r>
              <a:rPr sz="1500">
                <a:solidFill>
                  <a:srgbClr val="0F172A"/>
                </a:solidFill>
                <a:latin typeface="Times New Roman"/>
              </a:rPr>
              <a:t>Deliver an interactive developer dashboard with REST APIs for real-time multi-agent failure inspection and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System Architecture &amp; Design</a:t>
            </a:r>
          </a:p>
        </p:txBody>
      </p:sp>
      <p:pic>
        <p:nvPicPr>
          <p:cNvPr id="3" name="Picture 2" descr="fig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675120" cy="417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4068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00" i="1">
                <a:solidFill>
                  <a:srgbClr val="64748B"/>
                </a:solidFill>
                <a:latin typeface="Times New Roman"/>
              </a:rPr>
              <a:t>Fig: Automated Failure Attribution Engine Architecture (Approved in Review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3870655" cy="50292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Core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691640"/>
            <a:ext cx="387065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1.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User input: </a:t>
            </a:r>
            <a:r>
              <a:rPr sz="1200">
                <a:solidFill>
                  <a:srgbClr val="0F172A"/>
                </a:solidFill>
                <a:latin typeface="Times New Roman"/>
              </a:rPr>
              <a:t>upload raw multi-agent execution trace (JSON/JSONL) or configure synthetic benchmark.</a:t>
            </a:r>
          </a:p>
          <a:p>
            <a:pPr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2.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FastAPI backend: </a:t>
            </a:r>
            <a:r>
              <a:rPr sz="1200">
                <a:solidFill>
                  <a:srgbClr val="0F172A"/>
                </a:solidFill>
                <a:latin typeface="Times New Roman"/>
              </a:rPr>
              <a:t>trace segmentation, token budgeting, and schema normalization.</a:t>
            </a:r>
          </a:p>
          <a:p>
            <a:pPr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3.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Step-wise judging: </a:t>
            </a:r>
            <a:r>
              <a:rPr sz="1200">
                <a:solidFill>
                  <a:srgbClr val="0F172A"/>
                </a:solidFill>
                <a:latin typeface="Times New Roman"/>
              </a:rPr>
              <a:t>cached LLM judge evaluates agent steps; SHA-256 avoids repeated calls.</a:t>
            </a:r>
          </a:p>
          <a:p>
            <a:pPr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4.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Dependency Linker: </a:t>
            </a:r>
            <a:r>
              <a:rPr sz="1200">
                <a:solidFill>
                  <a:srgbClr val="0F172A"/>
                </a:solidFill>
                <a:latin typeface="Times New Roman"/>
              </a:rPr>
              <a:t>builds directed acyclic graph (DAG) across data and message flows.</a:t>
            </a:r>
          </a:p>
          <a:p>
            <a:pPr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5.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Backward traversal: </a:t>
            </a:r>
            <a:r>
              <a:rPr sz="1200">
                <a:solidFill>
                  <a:srgbClr val="0F172A"/>
                </a:solidFill>
                <a:latin typeface="Times New Roman"/>
              </a:rPr>
              <a:t>walks causal graph backward from manifest failure to earliest defect.</a:t>
            </a:r>
          </a:p>
          <a:p>
            <a:pPr>
              <a:spcBef>
                <a:spcPts val="500"/>
              </a:spcBef>
              <a:defRPr>
                <a:latin typeface="Times New Roman"/>
              </a:defRPr>
            </a:pPr>
            <a:r>
              <a:rPr sz="1200" b="1">
                <a:solidFill>
                  <a:srgbClr val="A00000"/>
                </a:solidFill>
                <a:latin typeface="Times New Roman"/>
              </a:rPr>
              <a:t>6. 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Attribution verdict: </a:t>
            </a:r>
            <a:r>
              <a:rPr sz="1200">
                <a:solidFill>
                  <a:srgbClr val="0F172A"/>
                </a:solidFill>
                <a:latin typeface="Times New Roman"/>
              </a:rPr>
              <a:t>pinpoints responsible agent, decisive step, and causal explanation.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897880"/>
            <a:ext cx="10728655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Design principle: Modular, cache-first diagnostic stack. NetworkX models causal DAG, SQLite/Redis manages prompt cache, Celery runs async batch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Module-wise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1. Trace Ingestion &amp; Parser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Pydantic, JSONL, Python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Normalizes diverse logs from AutoGen, MetaGPT, and LangGraph into structured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6432" y="123444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2. Step-Wise LLM 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6432" y="164592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Ollama (Qwen2.5), LangChain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Evaluates step correctness, tool inputs, and intermediate agent reasoning.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1344" y="123444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3. SHA-256 Prompt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64592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SQLite, Redis, hashlib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Deterministic key generation eliminates redundant calls, achieving &lt;1.5ms lookups.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06256" y="123444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4. Dependency Linker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06256" y="164592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NetworkX, Causal Edge Parser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Infers temporal, data, and communication edges into a verified acyclic graph (DAG).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5. Backward Traversal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Python, Graph Algorithms (DFS)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Calculates causal ancestor closures to backtrack from crash step to root error.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356616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6. Attribution Resolver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397764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Pydantic, Jinja2, Cytoscape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Computes confidence scores, responsible agent identities, and failure reports.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356616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7. REST API &amp; Celery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397764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FastAPI, Celery, Redis Broker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Asynchronous trace processing endpoints and queue-backed worker pipelines.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3566160"/>
            <a:ext cx="2542032" cy="4114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250" b="1">
                <a:solidFill>
                  <a:srgbClr val="FFFFFF"/>
                </a:solidFill>
                <a:latin typeface="Times New Roman"/>
              </a:rPr>
              <a:t>8. Developer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3977640"/>
            <a:ext cx="25420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00" b="1">
                <a:solidFill>
                  <a:srgbClr val="A00000"/>
                </a:solidFill>
                <a:latin typeface="Times New Roman"/>
              </a:rPr>
              <a:t>Tech: </a:t>
            </a:r>
            <a:r>
              <a:rPr sz="1100" i="1">
                <a:solidFill>
                  <a:srgbClr val="0F172A"/>
                </a:solidFill>
                <a:latin typeface="Times New Roman"/>
              </a:rPr>
              <a:t>Streamlit, PyVis, Altair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100">
                <a:solidFill>
                  <a:srgbClr val="0F172A"/>
                </a:solidFill>
                <a:latin typeface="Times New Roman"/>
              </a:rPr>
              <a:t>Interactive graph visualizer, step inspector, benchmark runner, and triage UI.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97880"/>
            <a:ext cx="10728655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Phase-1: Modules 1–8 foundations, unit testing, and Who&amp;When baseline. Phase-2: Multi-turn self-correction and automated repair.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Data Ingestion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1. Trace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JSON, JSONL, console logs from AutoGen/LangGraph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➔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2. Schema Normalization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Standardizes step IDs, timestamps, and agent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➔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3. Token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Truncates non-causal padding while preserving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4. Hash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Computes SHA-256 key for instant judge cache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5. Graph Ingest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Constructs nodes in NetworkX directed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188720"/>
            <a:ext cx="1600200" cy="36576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FFFFFF"/>
                </a:solidFill>
                <a:latin typeface="Times New Roman"/>
              </a:rPr>
              <a:t>6. Ready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554480"/>
            <a:ext cx="1600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000">
                <a:solidFill>
                  <a:srgbClr val="0F172A"/>
                </a:solidFill>
                <a:latin typeface="Times New Roman"/>
              </a:rPr>
              <a:t>Normalized DAG ready for backward traversal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Preprocessing Details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300" b="1">
                <a:latin typeface="Times New Roman"/>
              </a:rPr>
              <a:t>• </a:t>
            </a:r>
            <a:r>
              <a:rPr sz="1300" b="1">
                <a:solidFill>
                  <a:srgbClr val="000000"/>
                </a:solidFill>
                <a:latin typeface="Times New Roman"/>
              </a:rPr>
              <a:t>Schema Normalization: </a:t>
            </a:r>
            <a:r>
              <a:rPr sz="1300">
                <a:solidFill>
                  <a:srgbClr val="0F172A"/>
                </a:solidFill>
                <a:latin typeface="Times New Roman"/>
              </a:rPr>
              <a:t>Parses disparate logging formats into unified Pydantic ExecutionStep records.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300" b="1">
                <a:latin typeface="Times New Roman"/>
              </a:rPr>
              <a:t>• </a:t>
            </a:r>
            <a:r>
              <a:rPr sz="1300" b="1">
                <a:solidFill>
                  <a:srgbClr val="000000"/>
                </a:solidFill>
                <a:latin typeface="Times New Roman"/>
              </a:rPr>
              <a:t>Token Optimization: </a:t>
            </a:r>
            <a:r>
              <a:rPr sz="1300">
                <a:solidFill>
                  <a:srgbClr val="0F172A"/>
                </a:solidFill>
                <a:latin typeface="Times New Roman"/>
              </a:rPr>
              <a:t>Prunes non-essential token overhead while retaining full causal state arguments.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300" b="1">
                <a:latin typeface="Times New Roman"/>
              </a:rPr>
              <a:t>• </a:t>
            </a:r>
            <a:r>
              <a:rPr sz="1300" b="1">
                <a:solidFill>
                  <a:srgbClr val="000000"/>
                </a:solidFill>
                <a:latin typeface="Times New Roman"/>
              </a:rPr>
              <a:t>Context Preservation: </a:t>
            </a:r>
            <a:r>
              <a:rPr sz="1300">
                <a:solidFill>
                  <a:srgbClr val="0F172A"/>
                </a:solidFill>
                <a:latin typeface="Times New Roman"/>
              </a:rPr>
              <a:t>Maintains inter-agent message payloads, variable mutations, and caller IDs.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300" b="1">
                <a:latin typeface="Times New Roman"/>
              </a:rPr>
              <a:t>• </a:t>
            </a:r>
            <a:r>
              <a:rPr sz="1300" b="1">
                <a:solidFill>
                  <a:srgbClr val="000000"/>
                </a:solidFill>
                <a:latin typeface="Times New Roman"/>
              </a:rPr>
              <a:t>Prompt Hashing: </a:t>
            </a:r>
            <a:r>
              <a:rPr sz="1300">
                <a:solidFill>
                  <a:srgbClr val="0F172A"/>
                </a:solidFill>
                <a:latin typeface="Times New Roman"/>
              </a:rPr>
              <a:t>Generates deterministic SHA-256 hashes of evaluation prompts for O(1) cache hits.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300" b="1">
                <a:latin typeface="Times New Roman"/>
              </a:rPr>
              <a:t>• </a:t>
            </a:r>
            <a:r>
              <a:rPr sz="1300" b="1">
                <a:solidFill>
                  <a:srgbClr val="000000"/>
                </a:solidFill>
                <a:latin typeface="Times New Roman"/>
              </a:rPr>
              <a:t>Reliability: </a:t>
            </a:r>
            <a:r>
              <a:rPr sz="1300">
                <a:solidFill>
                  <a:srgbClr val="0F172A"/>
                </a:solidFill>
                <a:latin typeface="Times New Roman"/>
              </a:rPr>
              <a:t>Validates trace schemas upfront, preventing runtime crashes on corrupted log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88920"/>
            <a:ext cx="52422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Data Produced at Each Stage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3291840"/>
          <a:ext cx="52422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39135"/>
              </a:tblGrid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Stored Output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Trace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MultiAgentTrace record (JSON / Pydantic)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Segmentation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List[ExecutionStep] (Standardized format)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Prompt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SHA-256 hash + Boolean cache hit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DAG Construction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NetworkX DiGraph (Causal nodes &amp; edges)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Failure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Manifest failure step_id &amp; error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Core Algorithm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212080" cy="50292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Algorithm 1: Two-Phase Backward Causal Traversal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212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Input : Multi-agent trace T, task goal G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Output: Attribution verdict V (responsible agent, step)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1   steps &lt;- SegmentAndNormalize(T)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2   for each step s in steps: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3       cached &lt;- CacheLookup(SHA256(s.prompt))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4       s.score, s.is_anom &lt;- cached if cached else Judge(s, G)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5   dag &lt;- BuildDependencyGraph(steps)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6   m &lt;- FindManifestFailure(steps)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7   ancestors &lt;- CausalAncestors(dag, m)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8   causal_chain &lt;- SortTopological(ancestors)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9   root_step &lt;- FirstAnomalous(causal_chain)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0">
                <a:solidFill>
                  <a:srgbClr val="0F172A"/>
                </a:solidFill>
                <a:latin typeface="Times New Roman"/>
              </a:rPr>
              <a:t>10  return Verdict(root_step.agent, root_step.id, causal_chain)</a:t>
            </a:r>
          </a:p>
          <a:p>
            <a:pPr>
              <a:spcBef>
                <a:spcPts val="8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Implemented in Phase-1: caching, DAG builder, and backward traversal.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095" y="1188720"/>
            <a:ext cx="5212080" cy="50292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Mathematical Models &amp; Invariants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91640"/>
            <a:ext cx="5212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Causal Precedence Invariant (Phase-1):</a:t>
            </a:r>
          </a:p>
          <a:p>
            <a:pPr>
              <a:spcBef>
                <a:spcPts val="1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  e = (u, v) ∈ E_{dag}  ⟹  timestamp(u) &lt; timestamp(v)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Deterministic Cache Key Formulation:</a:t>
            </a:r>
          </a:p>
          <a:p>
            <a:pPr>
              <a:spcBef>
                <a:spcPts val="1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  k_{cache} = SHA-256( prompt_{judge} || agent_{name} || action_{payload} )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Backward Causal Attributed Step:</a:t>
            </a:r>
          </a:p>
          <a:p>
            <a:pPr>
              <a:spcBef>
                <a:spcPts val="1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  s^* = argmin_{s ∈ Anc(m)} { index(s) | is_anomalous(s) = True }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Joint Attribution Accuracy Metric:</a:t>
            </a:r>
          </a:p>
          <a:p>
            <a:pPr>
              <a:spcBef>
                <a:spcPts val="1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  Acc_{joint} = (1 / |T|) ∑ 𝕀( â_i = a_i^*  ∧  ŝ_i = s_i^* )</a:t>
            </a:r>
          </a:p>
          <a:p>
            <a:pPr>
              <a:spcBef>
                <a:spcPts val="400"/>
              </a:spcBef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Theoretical Speedup Factor:</a:t>
            </a:r>
          </a:p>
          <a:p>
            <a:pPr>
              <a:spcBef>
                <a:spcPts val="100"/>
              </a:spcBef>
              <a:defRPr>
                <a:latin typeface="Times New Roman"/>
              </a:defRPr>
            </a:pPr>
            <a:r>
              <a:rPr sz="1100" i="1">
                <a:solidFill>
                  <a:srgbClr val="A00000"/>
                </a:solidFill>
                <a:latin typeface="Times New Roman"/>
              </a:rPr>
              <a:t>  T_{cached} = T_{traverse} + ∑_{s ∉ Cache} t_{llm}(s)  ≪  ∑_{s=1}^N t_{llm}(s)</a:t>
            </a:r>
          </a:p>
          <a:p>
            <a:pPr>
              <a:spcBef>
                <a:spcPts val="600"/>
              </a:spcBef>
              <a:defRPr>
                <a:latin typeface="Times New Roman"/>
              </a:defRPr>
            </a:pPr>
            <a:r>
              <a:rPr sz="1050" i="1">
                <a:solidFill>
                  <a:srgbClr val="0F172A"/>
                </a:solidFill>
                <a:latin typeface="Times New Roman"/>
              </a:rPr>
              <a:t>Causal ancestor closure reduces evaluation complexity from O(N) to O(|Anc(m)|).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Interface &amp;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REST API Endpoints (FastAPI)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3035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286000"/>
              </a:tblGrid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Endpoint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A00000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/api/trace/upload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Upload and validate trace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A00000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/api/analyze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Run full failure attribution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/api/jobs/{id}/status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Check asynchronous job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/api/dag/{trace_id}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Fetch dependency graph (JSON)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A00000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/api/judge/step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Isolated step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/api/cache/stats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View prompt cache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A00000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/api/benchmark/run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Trigger Who&amp;When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/api/benchmark/results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Times New Roman"/>
                        </a:rPr>
                        <a:t>Fetch accuracy &amp; latency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834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 sz="1150" b="1">
                <a:latin typeface="Times New Roman"/>
              </a:rPr>
              <a:t>UI screens: </a:t>
            </a:r>
            <a:r>
              <a:rPr sz="1150">
                <a:solidFill>
                  <a:srgbClr val="0F172A"/>
                </a:solidFill>
                <a:latin typeface="Times New Roman"/>
              </a:rPr>
              <a:t>Trace Upload, Causal DAG Visualizer, Step Evaluation Inspector, Benchmark Runner, Cache Metrics.</a:t>
            </a:r>
          </a:p>
          <a:p>
            <a:pPr>
              <a:spcBef>
                <a:spcPts val="300"/>
              </a:spcBef>
              <a:defRPr>
                <a:latin typeface="Times New Roman"/>
              </a:defRPr>
            </a:pPr>
            <a:r>
              <a:rPr sz="1150" b="1">
                <a:latin typeface="Times New Roman"/>
              </a:rPr>
              <a:t>Stack: </a:t>
            </a:r>
            <a:r>
              <a:rPr sz="1150">
                <a:solidFill>
                  <a:srgbClr val="0F172A"/>
                </a:solidFill>
                <a:latin typeface="Times New Roman"/>
              </a:rPr>
              <a:t>FastAPI, Streamlit, NetworkX, PyVis, SQLite, Redis, Python 3.11.</a:t>
            </a:r>
          </a:p>
        </p:txBody>
      </p:sp>
      <p:pic>
        <p:nvPicPr>
          <p:cNvPr id="6" name="Picture 5" descr="slide7_dag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2218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337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Streamlit Trace Inspector &amp; Causal DAG Visualizer</a:t>
            </a:r>
          </a:p>
        </p:txBody>
      </p:sp>
      <p:pic>
        <p:nvPicPr>
          <p:cNvPr id="8" name="Picture 7" descr="slide7_results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03320"/>
            <a:ext cx="5120640" cy="2218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Attribution Verdict &amp; Anomaly Details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Code Snippets &amp; Key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212080" cy="50292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Dependency Linker (DAG Construction)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212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def build_causal_dag(steps: List[ExecutionStep]) -&gt; nx.DiGraph: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dag = nx.DiGraph()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for s in steps: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dag.add_node(s.id, agent=s.agent, payload=s.payload)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# Chronological &amp; message-passing edge linking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for i, curr in enumerate(steps):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for prev in steps[:i]: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if prev.recipient == curr.agent: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    dag.add_edge(prev.id, curr.id, type="message")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elif has_state_overlap(prev, curr):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    dag.add_edge(prev.id, curr.id, type="state")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assert nx.is_directed_acyclic_graph(dag), "Cycle detected!"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return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095" y="1188720"/>
            <a:ext cx="5212080" cy="50292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Backward Causal Traversal &amp; Root Resolver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691640"/>
            <a:ext cx="5212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def resolve_root_cause(dag: nx.DiGraph, manifest_id: int):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# Backtrack causal ancestors from crash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ancestors = nx.ancestors(dag, manifest_id) | {manifest_id}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causal_subgraph = dag.subgraph(ancestors)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# Topological sort ensures causal order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for step_id in nx.topological_sort(causal_subgraph):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node = dag.nodes[step_id]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if node.get("is_anomalous", False):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path = nx.shortest_path(dag, step_id, manifest_id)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return AttributionVerdict(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    responsible_agent=node["agent"],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    decisive_step=step_id,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    causal_path=list(path)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        )</a:t>
            </a:r>
          </a:p>
          <a:p>
            <a:pPr>
              <a:spcBef>
                <a:spcPts val="200"/>
              </a:spcBef>
              <a:defRPr>
                <a:latin typeface="Times New Roman"/>
              </a:defRPr>
            </a:pPr>
            <a:r>
              <a:rPr sz="1050">
                <a:solidFill>
                  <a:srgbClr val="0F172A"/>
                </a:solidFill>
                <a:latin typeface="Times New Roman"/>
              </a:rPr>
              <a:t>    return AttributionVerdict.unattributed()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200" i="1">
                <a:solidFill>
                  <a:srgbClr val="0F172A"/>
                </a:solidFill>
                <a:latin typeface="Times New Roman"/>
              </a:rPr>
              <a:t>Key functions: build_causal_dag, resolve_root_cause, cached_step_judge, run_who_and_when_eval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Module-1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800" b="1">
                <a:solidFill>
                  <a:srgbClr val="A00000"/>
                </a:solidFill>
                <a:latin typeface="Times New Roman"/>
              </a:rPr>
              <a:t>Backend Foundation &amp; Attribution Engine Pipeline</a:t>
            </a:r>
          </a:p>
        </p:txBody>
      </p:sp>
      <p:pic>
        <p:nvPicPr>
          <p:cNvPr id="4" name="Picture 3" descr="slide9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3383280" cy="2255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886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Docker &amp; Pytest CLI Execution
(27 Passed in 1.84s)</a:t>
            </a:r>
          </a:p>
        </p:txBody>
      </p:sp>
      <p:pic>
        <p:nvPicPr>
          <p:cNvPr id="6" name="Picture 5" descr="slide9_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508760"/>
            <a:ext cx="3383280" cy="2255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98264" y="3886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FastAPI Auto-Generated API Docs
(Interactive Swagger UI)</a:t>
            </a:r>
          </a:p>
        </p:txBody>
      </p:sp>
      <p:pic>
        <p:nvPicPr>
          <p:cNvPr id="8" name="Picture 7" descr="slide9_api_resp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508760"/>
            <a:ext cx="3383280" cy="2255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4152" y="3886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Attribution Diagnostic Output
(JSON Verdict &amp; Causal Path)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97880"/>
            <a:ext cx="10728655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Module-1 scope: FastAPI project architecture, SQLite/Redis prompt cache, NetworkX causal DAG constructor, automated Who&amp;When evaluation runner, Docker containerization.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Preliminary Results / Unit 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2865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3931920"/>
                <a:gridCol w="3596335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Parse valid AutoGen &amp; LangGraph execution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Normalized ExecutionSteps created with valid schemas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Parser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Ingest malformed / corrupted JSON trace logs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SchemaValidationError caught; error response emitted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Prompt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First-time prompt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Cache MISS -&gt; Step evaluated &amp; hash persisted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Prompt Cache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Repeated identical prompt evaluation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Cache HIT -&gt; Instant cached response (&lt; 1.5ms)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DAG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Construct causal dependency graph from 5-step 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Valid DAG constructed with 5 nodes and 6 edges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DAG Builder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Validate DAG acyclicity &amp; topological sort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Cycle detected &amp; topological order resolved correctly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Traversal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Trace single-agent causal failure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Responsible agent &amp; decisive step accurately 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TC8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Traversal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Backtrack cascading multi-agent failure 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Times New Roman"/>
                        </a:rPr>
                        <a:t>Earliest anomalous parent step pinpointed in closure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Times New Roman"/>
                        </a:defRPr>
                      </a:pPr>
                      <a:r>
                        <a:rPr sz="1100" b="1">
                          <a:solidFill>
                            <a:srgbClr val="166534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892040"/>
            <a:ext cx="10728655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>
                <a:latin typeface="Times New Roman"/>
              </a:defRPr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   Test summary: </a:t>
            </a:r>
            <a:r>
              <a:rPr sz="1200" b="1">
                <a:solidFill>
                  <a:srgbClr val="166534"/>
                </a:solidFill>
                <a:latin typeface="Times New Roman"/>
              </a:rPr>
              <a:t>[ 27 / 27 test cases passed (100% Pass in 1.84s) ]</a:t>
            </a:r>
            <a:r>
              <a:rPr sz="1200" b="1">
                <a:solidFill>
                  <a:srgbClr val="000000"/>
                </a:solidFill>
                <a:latin typeface="Times New Roman"/>
              </a:rPr>
              <a:t>                                Tools: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 pytest (v8.3), FastAPI TestClient, NetworkX, Coverage.py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321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1100" i="1">
                <a:solidFill>
                  <a:srgbClr val="64748B"/>
                </a:solidFill>
                <a:latin typeface="Times New Roman"/>
              </a:rPr>
              <a:t>All Phase-1 unit &amp; integration test cases verified and passing in automated test runner (1.84s total run time).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Performance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303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</a:tblGrid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Measured Value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Who&amp;When Joint Attribution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86.96% (20 / 23 benchmarks)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Responsible Agent Localization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91.30% (21 / 23 benchmarks)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Step Localization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89.13% (21 / 23 benchmarks)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Average Traversal &amp; Attribution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0.44 s per execution trace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Prompt Cache Speedup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14.2x faster on repeated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Cache Hit Response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&lt; 1.5 ms (SQLite / Redis)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Times New Roman"/>
                        </a:rPr>
                        <a:t>Peak Memory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240 MB (NetworkX DAG + 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slide11_perform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42255" cy="23227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5897880"/>
            <a:ext cx="10728655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Times New Roman"/>
              </a:defRPr>
            </a:pPr>
            <a:r>
              <a:rPr sz="1150" b="1">
                <a:solidFill>
                  <a:srgbClr val="0F172A"/>
                </a:solidFill>
                <a:latin typeface="Times New Roman"/>
              </a:rPr>
              <a:t>Phase-2 evaluation plan: Expand to 500+ multi-agent trace benchmarks, incorporate multi-turn self-repair suggestions, and evaluate LLM judge consensus voting.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Times New Roman"/>
              </a:defRPr>
            </a:pPr>
            <a:r>
              <a:rPr sz="4600" b="1">
                <a:solidFill>
                  <a:srgbClr val="000000"/>
                </a:solidFill>
                <a:latin typeface="Times New Roman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Times New Roman"/>
        <a:font script="Hang" typeface="Times New Roman"/>
        <a:font script="Hans" typeface="Times New Roman"/>
        <a:font script="Hant" typeface="Times New Roman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"/>
        <a:cs typeface=""/>
        <a:font script="Jpan" typeface="Times New Roman"/>
        <a:font script="Hang" typeface="Times New Roman"/>
        <a:font script="Hans" typeface="Times New Roman"/>
        <a:font script="Hant" typeface="Times New Roman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